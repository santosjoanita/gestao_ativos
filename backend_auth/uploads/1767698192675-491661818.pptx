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827"/>
  </p:normalViewPr>
  <p:slideViewPr>
    <p:cSldViewPr snapToGrid="0">
      <p:cViewPr varScale="1">
        <p:scale>
          <a:sx n="109" d="100"/>
          <a:sy n="109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F72D3-0B69-6642-B95B-621162D1DB30}" type="datetimeFigureOut">
              <a:rPr lang="pt-PT" smtClean="0"/>
              <a:t>14/12/25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201494-394B-E148-8E89-1151272572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97250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dirty="0"/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01494-394B-E148-8E89-1151272572DC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43252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 err="1"/>
              <a:t>Institute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Electrical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Electronics</a:t>
            </a:r>
            <a:r>
              <a:rPr lang="pt-PT" dirty="0"/>
              <a:t> </a:t>
            </a:r>
            <a:r>
              <a:rPr lang="pt-PT" dirty="0" err="1"/>
              <a:t>Engineers</a:t>
            </a:r>
            <a:r>
              <a:rPr lang="pt-PT" dirty="0"/>
              <a:t> (IEEE) </a:t>
            </a:r>
          </a:p>
          <a:p>
            <a:endParaRPr lang="pt-PT" dirty="0"/>
          </a:p>
          <a:p>
            <a:r>
              <a:rPr lang="pt-PT" dirty="0" err="1"/>
              <a:t>Association</a:t>
            </a:r>
            <a:r>
              <a:rPr lang="pt-PT" dirty="0"/>
              <a:t> for </a:t>
            </a:r>
            <a:r>
              <a:rPr lang="pt-PT" dirty="0" err="1"/>
              <a:t>Computing</a:t>
            </a:r>
            <a:r>
              <a:rPr lang="pt-PT" dirty="0"/>
              <a:t> </a:t>
            </a:r>
            <a:r>
              <a:rPr lang="pt-PT" dirty="0" err="1"/>
              <a:t>Machinery</a:t>
            </a:r>
            <a:r>
              <a:rPr lang="pt-PT" dirty="0"/>
              <a:t> (ACM)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01494-394B-E148-8E89-1151272572DC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23273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englicai.cn/pt/a-news-what-is-the-difference-between-ieee-and-acm" TargetMode="External"/><Relationship Id="rId2" Type="http://schemas.openxmlformats.org/officeDocument/2006/relationships/hyperlink" Target="https://aatae.pt/wp-content/uploads/2024/11/Manual-1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t.wikipedia.org/wiki/Direito_da_inform%C3%A1tica" TargetMode="External"/><Relationship Id="rId4" Type="http://schemas.openxmlformats.org/officeDocument/2006/relationships/hyperlink" Target="https://en.wikipedia.org/wiki/Association_for_Computing_Machiner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D10217-F865-EA94-5E68-B430CEE7FC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pt-PT" b="1" i="0" dirty="0">
                <a:solidFill>
                  <a:srgbClr val="1D2125"/>
                </a:solidFill>
                <a:effectLst/>
                <a:latin typeface="Roboto" panose="02000000000000000000" pitchFamily="2" charset="0"/>
              </a:rPr>
              <a:t>Ética, Deontologia e Direito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D4539F-3FC0-EF0F-6249-51DCF7DAC9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Beatriz botelho  28941  </a:t>
            </a:r>
            <a:r>
              <a:rPr lang="pt-PT" dirty="0" err="1"/>
              <a:t>ecgm</a:t>
            </a:r>
            <a:r>
              <a:rPr lang="pt-P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6726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DF9A83-67DA-21A8-2FAD-035061361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Introdução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B978CB8-8954-91EE-2E54-5FA40F3C8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dirty="0"/>
              <a:t>	Este trabalho aborda a relação entre </a:t>
            </a:r>
            <a:r>
              <a:rPr lang="pt-PT" b="1" dirty="0"/>
              <a:t>Ética, Deontologia e Direito</a:t>
            </a:r>
            <a:r>
              <a:rPr lang="pt-PT" dirty="0"/>
              <a:t> nas Ciências Informáticas, distinguindo os valores morais dos deveres profissionais. Vai-se fazer analise da importância do uso responsável da tecnologia, focando na privacidade, segurança e nos códigos de conduta de organizações como a ACM e o IEEE. </a:t>
            </a:r>
          </a:p>
          <a:p>
            <a:pPr marL="0" indent="0">
              <a:buNone/>
            </a:pPr>
            <a:r>
              <a:rPr lang="pt-PT" dirty="0"/>
              <a:t>	Por fim, vai ser explorado o enquadramento jurídico em Portugal e a nível internacional, incluindo a proteção de dados e o combate ao cibercrime.</a:t>
            </a:r>
          </a:p>
        </p:txBody>
      </p:sp>
    </p:spTree>
    <p:extLst>
      <p:ext uri="{BB962C8B-B14F-4D97-AF65-F5344CB8AC3E}">
        <p14:creationId xmlns:p14="http://schemas.microsoft.com/office/powerpoint/2010/main" val="4032096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DF116B-2C88-B1AB-8044-F979EA997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Definição de ética e deontologia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1F358A3-5F26-8F01-7DDD-351B5EAF3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b="1" dirty="0"/>
              <a:t>Ética</a:t>
            </a:r>
            <a:r>
              <a:rPr lang="pt-PT" dirty="0"/>
              <a:t> é o ramo da filosofia que estuda os valores morais e os princípios que orientam o comportamento humano. Ela procura responder a perguntas como: </a:t>
            </a:r>
            <a:r>
              <a:rPr lang="pt-PT" i="1" dirty="0"/>
              <a:t>o que é o bem e o mal?</a:t>
            </a:r>
            <a:r>
              <a:rPr lang="pt-PT" dirty="0"/>
              <a:t>, </a:t>
            </a:r>
            <a:r>
              <a:rPr lang="pt-PT" i="1" dirty="0"/>
              <a:t>o que é agir corretamente?</a:t>
            </a:r>
            <a:r>
              <a:rPr lang="pt-PT" dirty="0"/>
              <a:t> e </a:t>
            </a:r>
            <a:r>
              <a:rPr lang="pt-PT" i="1" dirty="0"/>
              <a:t>como devemos viver em sociedade?</a:t>
            </a:r>
          </a:p>
          <a:p>
            <a:endParaRPr lang="pt-PT" i="1" dirty="0"/>
          </a:p>
          <a:p>
            <a:r>
              <a:rPr lang="pt-PT" b="1" dirty="0"/>
              <a:t>Deontologia</a:t>
            </a:r>
            <a:r>
              <a:rPr lang="pt-PT" dirty="0"/>
              <a:t> é o conjunto de deveres, normas e regras que orientam a conduta de uma profissão ou atividade específica. Está ligada às obrigações morais e legais que os profissionais devem cumprir no exercício da sua função (por exemplo, códigos deontológicos de médicos, advogados ou professores).</a:t>
            </a:r>
          </a:p>
        </p:txBody>
      </p:sp>
    </p:spTree>
    <p:extLst>
      <p:ext uri="{BB962C8B-B14F-4D97-AF65-F5344CB8AC3E}">
        <p14:creationId xmlns:p14="http://schemas.microsoft.com/office/powerpoint/2010/main" val="2561618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64D59C-F5D0-C32E-075F-8A39DE77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 que é a Ética nas Ciências Informáticas?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55A9481-35B0-3C7A-C958-36B340F5A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PT" dirty="0"/>
              <a:t>	A ética estuda os </a:t>
            </a:r>
            <a:r>
              <a:rPr lang="pt-PT" b="1" dirty="0"/>
              <a:t>valores morais </a:t>
            </a:r>
            <a:r>
              <a:rPr lang="pt-PT" dirty="0"/>
              <a:t>que orientam o comportamento humano.  Nas ciências informáticas, a ética está ligada ao uso responsável da tecnologia. Envolve decisões sobre:</a:t>
            </a:r>
          </a:p>
          <a:p>
            <a:r>
              <a:rPr lang="pt-PT" dirty="0"/>
              <a:t>Privacidade dos dados</a:t>
            </a:r>
          </a:p>
          <a:p>
            <a:r>
              <a:rPr lang="pt-PT" dirty="0"/>
              <a:t>Segurança da informação</a:t>
            </a:r>
          </a:p>
          <a:p>
            <a:r>
              <a:rPr lang="pt-PT" dirty="0"/>
              <a:t>Impacto social da tecnologia</a:t>
            </a:r>
          </a:p>
          <a:p>
            <a:pPr marL="0" indent="0">
              <a:buNone/>
            </a:pPr>
            <a:r>
              <a:rPr lang="pt-PT" dirty="0"/>
              <a:t>Um profissional ético pensa nas consequências do seu trabalho para os utilizadores e para a sociedade.</a:t>
            </a:r>
          </a:p>
        </p:txBody>
      </p:sp>
    </p:spTree>
    <p:extLst>
      <p:ext uri="{BB962C8B-B14F-4D97-AF65-F5344CB8AC3E}">
        <p14:creationId xmlns:p14="http://schemas.microsoft.com/office/powerpoint/2010/main" val="2656503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DB8A9-A8E0-692F-B042-E867BD203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 que é Deontologia nas Ciências Informáticas?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0825C23-5B8E-E2DA-0FA9-5A87EA0C7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dirty="0"/>
              <a:t>	A deontologia refere-se aos </a:t>
            </a:r>
            <a:r>
              <a:rPr lang="pt-PT" b="1" dirty="0"/>
              <a:t>deveres e obrigações profissionais</a:t>
            </a:r>
            <a:r>
              <a:rPr lang="pt-PT" dirty="0"/>
              <a:t>. Está associada a códigos de conduta. Define regras sobre:</a:t>
            </a:r>
          </a:p>
          <a:p>
            <a:r>
              <a:rPr lang="pt-PT" dirty="0"/>
              <a:t>Confidencialidade</a:t>
            </a:r>
          </a:p>
          <a:p>
            <a:r>
              <a:rPr lang="pt-PT" dirty="0"/>
              <a:t>Honestidade profissional</a:t>
            </a:r>
          </a:p>
          <a:p>
            <a:r>
              <a:rPr lang="pt-PT" dirty="0"/>
              <a:t>Responsabilidade técnica</a:t>
            </a:r>
          </a:p>
          <a:p>
            <a:pPr marL="0" indent="0">
              <a:buNone/>
            </a:pPr>
            <a:r>
              <a:rPr lang="pt-PT" dirty="0"/>
              <a:t>O objetivo é garantir </a:t>
            </a:r>
            <a:r>
              <a:rPr lang="pt-PT" b="1" dirty="0"/>
              <a:t>confiança</a:t>
            </a:r>
            <a:r>
              <a:rPr lang="pt-PT" dirty="0"/>
              <a:t>, </a:t>
            </a:r>
            <a:r>
              <a:rPr lang="pt-PT" b="1" dirty="0"/>
              <a:t>credibilidade</a:t>
            </a:r>
            <a:r>
              <a:rPr lang="pt-PT" dirty="0"/>
              <a:t> e </a:t>
            </a:r>
            <a:r>
              <a:rPr lang="pt-PT" b="1" dirty="0"/>
              <a:t>qualidade profissional</a:t>
            </a:r>
            <a:r>
              <a:rPr lang="pt-PT" dirty="0"/>
              <a:t>.</a:t>
            </a:r>
          </a:p>
          <a:p>
            <a:pPr marL="0" indent="0">
              <a:buNone/>
            </a:pPr>
            <a:endParaRPr lang="pt-PT" dirty="0"/>
          </a:p>
          <a:p>
            <a:pPr marL="0" indent="0">
              <a:buNone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1716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27492-2DEF-FD1E-2DB6-6AE7DEC73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Código de Conduta nas Ciências Informáticas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052EFCB-63CA-499A-92CF-330473CA2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54431"/>
            <a:ext cx="9603275" cy="3999050"/>
          </a:xfrm>
        </p:spPr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PT" b="1" dirty="0"/>
              <a:t>Não causar dano</a:t>
            </a:r>
            <a:r>
              <a:rPr lang="pt-PT" dirty="0"/>
              <a:t>: Não usar computadores para prejudicar outras pessoas ou interferir no trabalho alheio.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b="1" dirty="0"/>
              <a:t>Respeito pela privacidade</a:t>
            </a:r>
            <a:r>
              <a:rPr lang="pt-PT" dirty="0"/>
              <a:t>: Proteger dados pessoais e manter a confidencialidade das informações a que se tem acesso.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b="1" dirty="0"/>
              <a:t>Uso responsável de recursos</a:t>
            </a:r>
            <a:r>
              <a:rPr lang="pt-PT" dirty="0"/>
              <a:t>: Usar computadores, redes e software de forma ética, respeitando licenças e políticas institucionais (evitando pirataria).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b="1" dirty="0"/>
              <a:t>Sigilo profissional</a:t>
            </a:r>
            <a:r>
              <a:rPr lang="pt-PT" dirty="0"/>
              <a:t>: Manter a confidencialidade de informações, mesmo após o término de funções. </a:t>
            </a:r>
          </a:p>
          <a:p>
            <a:r>
              <a:rPr lang="pt-PT" b="1" dirty="0"/>
              <a:t>Integridade e honestidade</a:t>
            </a:r>
            <a:r>
              <a:rPr lang="pt-PT" dirty="0"/>
              <a:t>: Não bisbilhotar ficheiros, não roubar, não dar falso testemunho e não se aproveitar do trabalho intelectual de outros.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9729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25818-383B-9C56-D86E-1D815EDC4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Princípios de ética(ACM e IEEE)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27D32D0-626C-C085-E1CA-080D9CA4C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PT" dirty="0"/>
              <a:t>	No mundo da tecnologia e da computação, o </a:t>
            </a:r>
            <a:r>
              <a:rPr lang="pt-PT" b="1" dirty="0"/>
              <a:t>IEEE</a:t>
            </a:r>
            <a:r>
              <a:rPr lang="pt-PT" dirty="0"/>
              <a:t> e a </a:t>
            </a:r>
            <a:r>
              <a:rPr lang="pt-PT" b="1" dirty="0"/>
              <a:t>ACM</a:t>
            </a:r>
            <a:r>
              <a:rPr lang="pt-PT" dirty="0"/>
              <a:t> são organizações profissionais de destaque que promovem a pesquisa, a colaboração e a inovação, contribuindo significativamente para o desenvolvimento da ciência da computação e da engenharia elétrica.</a:t>
            </a:r>
          </a:p>
          <a:p>
            <a:pPr marL="0" indent="0">
              <a:buNone/>
            </a:pPr>
            <a:r>
              <a:rPr lang="pt-PT" b="1" dirty="0"/>
              <a:t>ACM:</a:t>
            </a:r>
          </a:p>
          <a:p>
            <a:r>
              <a:rPr lang="pt-PT" b="1" dirty="0"/>
              <a:t>Bem-estar da sociedade - </a:t>
            </a:r>
            <a:r>
              <a:rPr lang="pt-PT" dirty="0"/>
              <a:t>A tecnologia deve ser desenvolvida para beneficiar a sociedade e respeitar os direitos humanos.</a:t>
            </a:r>
          </a:p>
          <a:p>
            <a:r>
              <a:rPr lang="pt-PT" b="1" dirty="0"/>
              <a:t>Evitar danos e proteger a privacidade - </a:t>
            </a:r>
            <a:r>
              <a:rPr lang="pt-PT" dirty="0"/>
              <a:t>Prevenir impactos negativos, garantindo a segurança e a confidencialidade da informação.</a:t>
            </a:r>
          </a:p>
          <a:p>
            <a:r>
              <a:rPr lang="pt-PT" b="1" dirty="0"/>
              <a:t>Honestidade e responsabilidade profissional - </a:t>
            </a:r>
            <a:r>
              <a:rPr lang="pt-PT" dirty="0"/>
              <a:t>Atuar com integridade e assumir responsabilidade pelas consequências do trabalho.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00315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4F9AF4-2DE0-8F98-A9A3-611F9698C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Princípios de ética(ACM e IEEE)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A67A2E7-2601-F61D-7DFA-2DE69036F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62554"/>
          </a:xfrm>
        </p:spPr>
        <p:txBody>
          <a:bodyPr/>
          <a:lstStyle/>
          <a:p>
            <a:pPr marL="0" indent="0">
              <a:buNone/>
            </a:pPr>
            <a:r>
              <a:rPr lang="pt-PT" b="1" dirty="0"/>
              <a:t>IEEE:</a:t>
            </a:r>
          </a:p>
          <a:p>
            <a:r>
              <a:rPr lang="pt-PT" b="1" dirty="0"/>
              <a:t>Segurança e interesse público - </a:t>
            </a:r>
            <a:r>
              <a:rPr lang="pt-PT" dirty="0"/>
              <a:t>As decisões técnicas devem priorizar a segurança, a saúde e o bem-estar da sociedade.</a:t>
            </a:r>
          </a:p>
          <a:p>
            <a:r>
              <a:rPr lang="pt-PT" b="1" dirty="0"/>
              <a:t>Integridade e competência técnica - </a:t>
            </a:r>
            <a:r>
              <a:rPr lang="pt-PT" dirty="0"/>
              <a:t>Agir com honestidade e aceitar apenas tarefas compatíveis com a qualificação profissional.</a:t>
            </a:r>
          </a:p>
          <a:p>
            <a:r>
              <a:rPr lang="pt-PT" b="1" dirty="0"/>
              <a:t>Cumprimento de normas éticas, legais e profissionais - </a:t>
            </a:r>
            <a:r>
              <a:rPr lang="pt-PT" dirty="0"/>
              <a:t>Respeitar leis, códigos de conduta e padrões profissionais.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24661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5A1F32-7F17-5D90-EBE4-852F39189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Direito Informático em Portugal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31B8C53-1584-F96D-1FC0-E62F9BB89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PT" dirty="0"/>
              <a:t>	</a:t>
            </a:r>
            <a:r>
              <a:rPr lang="pt-PT" sz="2100" dirty="0"/>
              <a:t>O Direito Informático em Portugal é um ramo jurídico moderno e em expansão, focado na regulação das relações no ambiente digital, abrangendo áreas como proteção de dados (RGPD e CNPD), </a:t>
            </a:r>
            <a:r>
              <a:rPr lang="pt-PT" sz="2100" dirty="0" err="1"/>
              <a:t>cibersegurança</a:t>
            </a:r>
            <a:r>
              <a:rPr lang="pt-PT" sz="2100" dirty="0"/>
              <a:t>, crimes cibernéticos, propriedade intelectual de software, comércio eletrónico, contratos eletrónicos e nomes de domínio.</a:t>
            </a:r>
            <a:endParaRPr lang="pt-PT" b="0" i="0" dirty="0">
              <a:solidFill>
                <a:srgbClr val="E6E8F0"/>
              </a:solidFill>
              <a:effectLst/>
              <a:latin typeface="Google Sans"/>
            </a:endParaRPr>
          </a:p>
          <a:p>
            <a:pPr marL="0" indent="0">
              <a:buNone/>
            </a:pPr>
            <a:r>
              <a:rPr lang="pt-PT" dirty="0"/>
              <a:t>Áreas de atuação: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100" b="1" dirty="0"/>
              <a:t>Proteção de Dados e Privacidade</a:t>
            </a:r>
            <a:r>
              <a:rPr lang="pt-PT" sz="2100" dirty="0"/>
              <a:t>: Conformidade com o RGPD(Regulamento Geral sobre a Proteção de Dados), atuação da Comissão Nacional de Proteção de Dados (CNPD) e direitos dos titulares de dados.</a:t>
            </a:r>
          </a:p>
          <a:p>
            <a:r>
              <a:rPr lang="pt-PT" sz="2100" b="1" dirty="0" err="1"/>
              <a:t>Cibersegurança</a:t>
            </a:r>
            <a:r>
              <a:rPr lang="pt-PT" sz="2100" b="1" dirty="0"/>
              <a:t> e Crimes Cibernéticos</a:t>
            </a:r>
            <a:r>
              <a:rPr lang="pt-PT" sz="2100" dirty="0"/>
              <a:t>: Prevenção e resposta a ataques, investigação de crimes digitais.</a:t>
            </a:r>
          </a:p>
        </p:txBody>
      </p:sp>
    </p:spTree>
    <p:extLst>
      <p:ext uri="{BB962C8B-B14F-4D97-AF65-F5344CB8AC3E}">
        <p14:creationId xmlns:p14="http://schemas.microsoft.com/office/powerpoint/2010/main" val="610575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99A67-7D64-D29D-9C65-579018D37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Direito Informático em Portugal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0026713-9A72-20E3-716F-BD9FD5FA1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sz="1900" b="1" dirty="0"/>
              <a:t>Propriedade Intelectual</a:t>
            </a:r>
            <a:r>
              <a:rPr lang="pt-PT" sz="1900" dirty="0"/>
              <a:t>: Proteção de software, bases de dados, direitos de autor na Internet e marcas.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1900" b="1" dirty="0"/>
              <a:t>Nomes de Domínio</a:t>
            </a:r>
            <a:r>
              <a:rPr lang="pt-PT" sz="1900" dirty="0"/>
              <a:t>: Registo, transferência e resolução de conflitos.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1900" b="1" dirty="0"/>
              <a:t>Inteligência Artificial e Novas Tecnologias</a:t>
            </a:r>
            <a:r>
              <a:rPr lang="pt-PT" sz="1900" dirty="0"/>
              <a:t>: Impacto jurídico da IA, </a:t>
            </a:r>
            <a:r>
              <a:rPr lang="pt-PT" sz="1900" dirty="0" err="1"/>
              <a:t>criptoativos</a:t>
            </a:r>
            <a:r>
              <a:rPr lang="pt-PT" sz="1900" dirty="0"/>
              <a:t> e mercado de dados. </a:t>
            </a:r>
          </a:p>
          <a:p>
            <a:pPr marL="0" indent="0">
              <a:buNone/>
            </a:pPr>
            <a:br>
              <a:rPr lang="pt-PT" dirty="0"/>
            </a:b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25503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013B51-28AF-7298-D5DE-D878273EA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Direito Informático em Portugal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124AE37-E550-671A-D0CF-842519E63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dirty="0"/>
              <a:t>Legislação Relevante: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b="1" dirty="0"/>
              <a:t>Lei n.º 27/2021</a:t>
            </a:r>
            <a:r>
              <a:rPr lang="pt-PT" dirty="0"/>
              <a:t>: Garante direitos fundamentais no ambiente digital, como a não discriminação de conteúdos e o direito à educação digital.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b="1" dirty="0"/>
              <a:t>DL n.º 252/94</a:t>
            </a:r>
            <a:r>
              <a:rPr lang="pt-PT" dirty="0"/>
              <a:t>: Estabelece direitos e limites para programas de computador, aplicando limites do direito de autor.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b="1" dirty="0"/>
              <a:t>Regulamento Geral sobre a Proteção de Dados (RGPD)</a:t>
            </a:r>
            <a:r>
              <a:rPr lang="pt-PT" dirty="0"/>
              <a:t>: Regulamentação europeia adaptada à lei nacional. </a:t>
            </a:r>
          </a:p>
          <a:p>
            <a:pPr marL="0" indent="0">
              <a:buNone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79800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4C3A16-B198-E482-3B1A-9DDABAB3B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Direito Informático a Nível Internacional 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5D551B5-D708-6F3C-325B-2B37D9252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dirty="0"/>
              <a:t>	O direito informático a nível internacional visa estabelecer normas comuns para regular o uso das tecnologias da informação, garantindo a </a:t>
            </a:r>
            <a:r>
              <a:rPr lang="pt-PT" b="1" dirty="0"/>
              <a:t>proteção de direitos fundamentais</a:t>
            </a:r>
            <a:r>
              <a:rPr lang="pt-PT" dirty="0"/>
              <a:t>, a </a:t>
            </a:r>
            <a:r>
              <a:rPr lang="pt-PT" b="1" dirty="0"/>
              <a:t>segurança digital</a:t>
            </a:r>
            <a:r>
              <a:rPr lang="pt-PT" dirty="0"/>
              <a:t> e a </a:t>
            </a:r>
            <a:r>
              <a:rPr lang="pt-PT" b="1" dirty="0"/>
              <a:t>cooperação entre Estados</a:t>
            </a:r>
            <a:r>
              <a:rPr lang="pt-PT" dirty="0"/>
              <a:t>.</a:t>
            </a:r>
          </a:p>
          <a:p>
            <a:r>
              <a:rPr lang="pt-PT" b="1" dirty="0"/>
              <a:t>Proteção de Dados e Privacidade - </a:t>
            </a:r>
            <a:r>
              <a:rPr lang="pt-PT" dirty="0"/>
              <a:t>Normas internacionais, como o RGPD, garantem a proteção de dados pessoais e o direito à privacidade no ambiente digital.</a:t>
            </a:r>
          </a:p>
          <a:p>
            <a:r>
              <a:rPr lang="pt-PT" b="1" dirty="0"/>
              <a:t>Combate ao Cibercrime - </a:t>
            </a:r>
            <a:r>
              <a:rPr lang="pt-PT" dirty="0"/>
              <a:t>A Convenção de Budapeste promove a cooperação internacional no combate a crimes informáticos.</a:t>
            </a:r>
          </a:p>
          <a:p>
            <a:r>
              <a:rPr lang="pt-PT" b="1" dirty="0"/>
              <a:t>Propriedade Intelectual Digital - </a:t>
            </a:r>
            <a:r>
              <a:rPr lang="pt-PT" dirty="0"/>
              <a:t>Tratados internacionais protegem software, bases de dados e conteúdos digitais contra cópia e uso ilegal.</a:t>
            </a:r>
          </a:p>
        </p:txBody>
      </p:sp>
    </p:spTree>
    <p:extLst>
      <p:ext uri="{BB962C8B-B14F-4D97-AF65-F5344CB8AC3E}">
        <p14:creationId xmlns:p14="http://schemas.microsoft.com/office/powerpoint/2010/main" val="2553740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A51931-1386-0CCC-5317-01D48B57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Direito Informático a Nível Internacional 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981BCD7-D22E-6B72-6D07-6267DBD62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b="1" dirty="0"/>
              <a:t>Direitos Humanos Digitais - </a:t>
            </a:r>
            <a:r>
              <a:rPr lang="pt-PT" dirty="0"/>
              <a:t>Os direitos fundamentais, como a liberdade de expressão e a privacidade, aplicam-se também ao espaço online.</a:t>
            </a:r>
          </a:p>
          <a:p>
            <a:r>
              <a:rPr lang="pt-PT" b="1" dirty="0"/>
              <a:t>Desafios e Cooperação Internacional - </a:t>
            </a:r>
            <a:r>
              <a:rPr lang="pt-PT" dirty="0"/>
              <a:t>A natureza global da internet exige cooperação entre países para acompanhar a evolução tecnológica.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030936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B47CB4-2D21-835C-0935-5DDA51397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CONCLUSÃO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E85F0BA-FDCC-D6C5-5306-2A92240C0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dirty="0"/>
              <a:t>	Conclui-se que a união entre Ética, Deontologia e Direito é fundamental para garantir a credibilidade e a confiança na profissão informática. O profissional deve aliar a competência técnica à honestidade, cumprindo obrigações legais como o RGPD e respeitando princípios como </a:t>
            </a:r>
            <a:r>
              <a:rPr lang="pt-PT"/>
              <a:t>a confidencialidade. </a:t>
            </a:r>
            <a:endParaRPr lang="pt-PT" dirty="0"/>
          </a:p>
          <a:p>
            <a:pPr marL="0" indent="0">
              <a:buNone/>
            </a:pPr>
            <a:r>
              <a:rPr lang="pt-PT" dirty="0"/>
              <a:t>	Desta forma, assegura-se que a tecnologia beneficia a sociedade sem comprometer a segurança ou os direitos fundamentais.</a:t>
            </a:r>
          </a:p>
        </p:txBody>
      </p:sp>
    </p:spTree>
    <p:extLst>
      <p:ext uri="{BB962C8B-B14F-4D97-AF65-F5344CB8AC3E}">
        <p14:creationId xmlns:p14="http://schemas.microsoft.com/office/powerpoint/2010/main" val="1694404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C6C03F-9402-1AD9-9A8D-25788F8AC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Referencias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44AD398-54E6-A47E-AA8F-3DAEFAA26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>
                <a:hlinkClick r:id="rId2"/>
              </a:rPr>
              <a:t>https://aatae.pt/wp-content/uploads/2024/11/Manual-1.pdf</a:t>
            </a:r>
            <a:endParaRPr lang="pt-PT" dirty="0"/>
          </a:p>
          <a:p>
            <a:r>
              <a:rPr lang="pt-PT" dirty="0">
                <a:hlinkClick r:id="rId3"/>
              </a:rPr>
              <a:t>https://www.henglicai.cn/pt/a-news-what-is-the-difference-between-ieee-and-acm</a:t>
            </a:r>
            <a:endParaRPr lang="pt-PT" dirty="0"/>
          </a:p>
          <a:p>
            <a:r>
              <a:rPr lang="pt-PT" dirty="0">
                <a:hlinkClick r:id="rId4"/>
              </a:rPr>
              <a:t>https://en.wikipedia.org/wiki/Association_for_Computing_Machinery</a:t>
            </a:r>
            <a:endParaRPr lang="pt-PT" dirty="0"/>
          </a:p>
          <a:p>
            <a:r>
              <a:rPr lang="pt-PT" dirty="0">
                <a:hlinkClick r:id="rId5"/>
              </a:rPr>
              <a:t>https://pt.wikipedia.org/wiki/Direito_da_inform%C3%A1tica</a:t>
            </a:r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3467802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Galeria</Template>
  <TotalTime>226</TotalTime>
  <Words>1139</Words>
  <Application>Microsoft Macintosh PowerPoint</Application>
  <PresentationFormat>Ecrã Panorâmico</PresentationFormat>
  <Paragraphs>76</Paragraphs>
  <Slides>15</Slides>
  <Notes>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15</vt:i4>
      </vt:variant>
    </vt:vector>
  </HeadingPairs>
  <TitlesOfParts>
    <vt:vector size="21" baseType="lpstr">
      <vt:lpstr>Aptos</vt:lpstr>
      <vt:lpstr>Arial</vt:lpstr>
      <vt:lpstr>Gill Sans MT</vt:lpstr>
      <vt:lpstr>Google Sans</vt:lpstr>
      <vt:lpstr>Roboto</vt:lpstr>
      <vt:lpstr>Galeria</vt:lpstr>
      <vt:lpstr>Ética, Deontologia e Direito</vt:lpstr>
      <vt:lpstr>Introdução</vt:lpstr>
      <vt:lpstr>Definição de ética e deontologia</vt:lpstr>
      <vt:lpstr>O que é a Ética nas Ciências Informáticas?</vt:lpstr>
      <vt:lpstr>O que é Deontologia nas Ciências Informáticas?</vt:lpstr>
      <vt:lpstr>Código de Conduta nas Ciências Informáticas</vt:lpstr>
      <vt:lpstr>Princípios de ética(ACM e IEEE)</vt:lpstr>
      <vt:lpstr>Princípios de ética(ACM e IEEE)</vt:lpstr>
      <vt:lpstr>Direito Informático em Portugal</vt:lpstr>
      <vt:lpstr>Direito Informático em Portugal</vt:lpstr>
      <vt:lpstr>Direito Informático em Portugal</vt:lpstr>
      <vt:lpstr>Direito Informático a Nível Internacional </vt:lpstr>
      <vt:lpstr>Direito Informático a Nível Internacional </vt:lpstr>
      <vt:lpstr>CONCLUSÃO</vt:lpstr>
      <vt:lpstr>Referencias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Beatriz Botelho</dc:creator>
  <cp:lastModifiedBy>Beatriz Botelho</cp:lastModifiedBy>
  <cp:revision>3</cp:revision>
  <dcterms:created xsi:type="dcterms:W3CDTF">2025-12-14T19:28:50Z</dcterms:created>
  <dcterms:modified xsi:type="dcterms:W3CDTF">2025-12-14T23:15:46Z</dcterms:modified>
</cp:coreProperties>
</file>